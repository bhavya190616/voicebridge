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6" r:id="rId5"/>
    <p:sldId id="277" r:id="rId6"/>
    <p:sldId id="278" r:id="rId7"/>
    <p:sldId id="262" r:id="rId8"/>
    <p:sldId id="263" r:id="rId9"/>
    <p:sldId id="288" r:id="rId10"/>
    <p:sldId id="290" r:id="rId11"/>
    <p:sldId id="289" r:id="rId12"/>
    <p:sldId id="264" r:id="rId13"/>
    <p:sldId id="273" r:id="rId14"/>
    <p:sldId id="279" r:id="rId15"/>
    <p:sldId id="291" r:id="rId16"/>
    <p:sldId id="280" r:id="rId17"/>
    <p:sldId id="281" r:id="rId18"/>
    <p:sldId id="282" r:id="rId19"/>
    <p:sldId id="283" r:id="rId20"/>
    <p:sldId id="284" r:id="rId21"/>
    <p:sldId id="285" r:id="rId22"/>
    <p:sldId id="287" r:id="rId23"/>
    <p:sldId id="268" r:id="rId24"/>
    <p:sldId id="269" r:id="rId25"/>
    <p:sldId id="270" r:id="rId26"/>
    <p:sldId id="274" r:id="rId27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373" autoAdjust="0"/>
  </p:normalViewPr>
  <p:slideViewPr>
    <p:cSldViewPr>
      <p:cViewPr varScale="1">
        <p:scale>
          <a:sx n="146" d="100"/>
          <a:sy n="146" d="100"/>
        </p:scale>
        <p:origin x="1738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7070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7070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195" y="32852"/>
            <a:ext cx="189420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1304" y="763198"/>
            <a:ext cx="3855720" cy="2303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7070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250" y="534312"/>
            <a:ext cx="3810000" cy="446854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algn="ctr"/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VoiceBridge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: Emotion-Aware Bidirectional Sign Language–Speech 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0006" y="1278636"/>
            <a:ext cx="647953" cy="6479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6103" y="2131512"/>
            <a:ext cx="2235835" cy="763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b="1" spc="110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Bhavya</a:t>
            </a:r>
            <a:r>
              <a:rPr sz="900" b="1" spc="165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900" b="1" spc="85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Ullas</a:t>
            </a:r>
            <a:endParaRPr sz="9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900" spc="10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Under</a:t>
            </a:r>
            <a:r>
              <a:rPr sz="900" spc="225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900" spc="10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the</a:t>
            </a:r>
            <a:r>
              <a:rPr sz="900" spc="235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900" spc="10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Supervision</a:t>
            </a:r>
            <a:r>
              <a:rPr sz="900" spc="235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900" spc="-25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of</a:t>
            </a:r>
            <a:endParaRPr sz="9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lang="en-US" sz="900" b="1" spc="95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Prof.</a:t>
            </a:r>
            <a:r>
              <a:rPr sz="900" b="1" spc="275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en-US" sz="900" b="1" spc="80" dirty="0" err="1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Vaheetha</a:t>
            </a:r>
            <a:r>
              <a:rPr lang="en-US" sz="900" b="1" spc="80" dirty="0">
                <a:solidFill>
                  <a:srgbClr val="0000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Salam</a:t>
            </a:r>
            <a:endParaRPr sz="9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900" b="1" spc="280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TKM</a:t>
            </a:r>
            <a:r>
              <a:rPr sz="900" b="1" spc="180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900" b="1" spc="85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College</a:t>
            </a:r>
            <a:r>
              <a:rPr sz="900" b="1" spc="185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900" b="1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of</a:t>
            </a:r>
            <a:r>
              <a:rPr sz="900" b="1" spc="185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900" b="1" spc="90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Engineering,</a:t>
            </a:r>
            <a:r>
              <a:rPr sz="900" b="1" spc="185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900" b="1" spc="110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Kollam</a:t>
            </a:r>
            <a:endParaRPr sz="9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lang="en-US" sz="600" spc="70" dirty="0">
                <a:solidFill>
                  <a:srgbClr val="0707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February 9 2026</a:t>
            </a:r>
            <a:endParaRPr sz="6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95" y="32852"/>
            <a:ext cx="18942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14" dirty="0">
                <a:latin typeface="Cambria Math" panose="02040503050406030204" pitchFamily="18" charset="0"/>
                <a:ea typeface="Cambria Math" panose="02040503050406030204" pitchFamily="18" charset="0"/>
              </a:rPr>
              <a:t>Presentation</a:t>
            </a:r>
            <a:r>
              <a:rPr spc="24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pc="120" dirty="0">
                <a:latin typeface="Cambria Math" panose="02040503050406030204" pitchFamily="18" charset="0"/>
                <a:ea typeface="Cambria Math" panose="02040503050406030204" pitchFamily="18" charset="0"/>
              </a:rPr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3027" y="88524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070707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941487"/>
            <a:ext cx="2880360" cy="12497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sz="1100" b="1" spc="8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Introduction</a:t>
            </a:r>
            <a:endParaRPr sz="11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  <a:p>
            <a:pPr marL="12700" marR="1135380">
              <a:lnSpc>
                <a:spcPct val="150000"/>
              </a:lnSpc>
            </a:pPr>
            <a:r>
              <a:rPr sz="1100" b="1" spc="10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Literature</a:t>
            </a:r>
            <a:r>
              <a:rPr lang="en-US" sz="1100" b="1" spc="10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1100" b="1" spc="9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Review</a:t>
            </a:r>
            <a:endParaRPr lang="en-US" sz="1100" b="1" spc="95" dirty="0">
              <a:solidFill>
                <a:srgbClr val="BF003F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  <a:p>
            <a:pPr marL="12700" marR="1135380">
              <a:lnSpc>
                <a:spcPct val="150000"/>
              </a:lnSpc>
            </a:pPr>
            <a:r>
              <a:rPr sz="1100" b="1" spc="9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en-US" sz="1100" b="1" spc="9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Research Gap</a:t>
            </a:r>
          </a:p>
          <a:p>
            <a:pPr marL="12700" marR="1135380">
              <a:lnSpc>
                <a:spcPct val="150000"/>
              </a:lnSpc>
            </a:pPr>
            <a:r>
              <a:rPr sz="1100" b="1" spc="8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Methodology</a:t>
            </a:r>
            <a:endParaRPr sz="11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  <a:p>
            <a:pPr marL="12700" marR="5080">
              <a:lnSpc>
                <a:spcPct val="150000"/>
              </a:lnSpc>
            </a:pPr>
            <a:r>
              <a:rPr sz="1100" b="1" spc="114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Project</a:t>
            </a:r>
            <a:r>
              <a:rPr sz="1100" b="1" spc="18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1100" b="1" spc="9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Progress</a:t>
            </a:r>
            <a:r>
              <a:rPr sz="1100" b="1" spc="18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1100" b="1" spc="19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&amp; </a:t>
            </a:r>
            <a:r>
              <a:rPr sz="1100" b="1" spc="10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Pending</a:t>
            </a:r>
            <a:r>
              <a:rPr sz="1100" b="1" spc="18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1100" b="1" spc="9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Work</a:t>
            </a:r>
            <a:endParaRPr sz="11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7314" y="1321419"/>
            <a:ext cx="11531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2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I</a:t>
            </a:r>
            <a:r>
              <a:rPr lang="en-US" sz="1400" b="1" spc="12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ntroduction</a:t>
            </a:r>
            <a:endParaRPr sz="14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3999" y="1737741"/>
            <a:ext cx="3600450" cy="0"/>
          </a:xfrm>
          <a:custGeom>
            <a:avLst/>
            <a:gdLst/>
            <a:ahLst/>
            <a:cxnLst/>
            <a:rect l="l" t="t" r="r" b="b"/>
            <a:pathLst>
              <a:path w="3600450">
                <a:moveTo>
                  <a:pt x="0" y="0"/>
                </a:moveTo>
                <a:lnTo>
                  <a:pt x="3600005" y="0"/>
                </a:lnTo>
              </a:path>
            </a:pathLst>
          </a:custGeom>
          <a:ln w="12649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AC29-947D-BF5E-C684-D1EFE920D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059"/>
            <a:ext cx="3456255" cy="430887"/>
          </a:xfrm>
        </p:spPr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Key Points about DHH community in India</a:t>
            </a:r>
            <a:endParaRPr lang="en-IN" dirty="0"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F8763C38-7A7E-E942-4788-FCF583962319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92B2C9A3-ADB1-A026-13C2-854EB8941D02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46C97B8B-2A93-050F-EDA0-71F682AE0EBA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704DA32-6BB7-CE26-B10F-E329067270E5}"/>
              </a:ext>
            </a:extLst>
          </p:cNvPr>
          <p:cNvSpPr txBox="1"/>
          <p:nvPr/>
        </p:nvSpPr>
        <p:spPr>
          <a:xfrm>
            <a:off x="-10" y="372189"/>
            <a:ext cx="427320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India has a large and growing Deaf and Hard of Hearing (DHH) population</a:t>
            </a:r>
          </a:p>
          <a:p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According to the Census 2011, a total of 2.68 crore persons in India were reported as having disabilities out of which 19% have hearing disabilities. </a:t>
            </a:r>
          </a:p>
          <a:p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Hearing disability is the second most prevalent disability in India</a:t>
            </a:r>
          </a:p>
          <a:p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Severe shortage of certified </a:t>
            </a:r>
          </a:p>
          <a:p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Indian Sign Language(ISL) </a:t>
            </a:r>
          </a:p>
          <a:p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Interpreters (fewer than 300 for </a:t>
            </a:r>
          </a:p>
          <a:p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Millions of users)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A7BFC4-B92F-2127-648D-1DEA0B39A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1842139"/>
            <a:ext cx="2286000" cy="15385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4081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0CFD-0654-0E4A-AE0E-81B568ED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95" y="32852"/>
            <a:ext cx="1894205" cy="215444"/>
          </a:xfrm>
        </p:spPr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Problem Statement</a:t>
            </a:r>
            <a:endParaRPr lang="en-IN" dirty="0"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DF0D9EA1-4DEA-F1EC-98D5-120B27B2B5E1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AA6C341C-61F7-0D79-8528-072D9B24184F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94499E44-53AB-0526-75B0-96590EA2316F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D79CF4F-6980-2031-7E51-68BE5E08E694}"/>
              </a:ext>
            </a:extLst>
          </p:cNvPr>
          <p:cNvSpPr txBox="1"/>
          <p:nvPr/>
        </p:nvSpPr>
        <p:spPr>
          <a:xfrm>
            <a:off x="-2731" y="329481"/>
            <a:ext cx="466998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Deaf users constrained by ISL inaccessibility to ∼90% hearing population (India Census 2021)</a:t>
            </a:r>
          </a:p>
          <a:p>
            <a:pPr algn="l"/>
            <a:endParaRPr lang="en-US" sz="11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l"/>
            <a:r>
              <a:rPr lang="en-US" sz="11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Persistent communication barriers between deaf/mute (∼15% global hearing loss, WHO 2024) and hearing populations</a:t>
            </a:r>
          </a:p>
          <a:p>
            <a:pPr algn="l"/>
            <a:endParaRPr lang="en-US" sz="11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Indian Sign Language (ISL) lacks universal comprehension among hearing users</a:t>
            </a:r>
          </a:p>
          <a:p>
            <a:endParaRPr lang="en-US" sz="11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State-of-the-art deficits:</a:t>
            </a:r>
          </a:p>
          <a:p>
            <a:pPr lvl="1"/>
            <a:r>
              <a:rPr lang="en-US" sz="11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Unidirectional (</a:t>
            </a:r>
            <a:r>
              <a:rPr lang="en-US" sz="11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sign→speech</a:t>
            </a:r>
            <a:r>
              <a:rPr lang="en-US" sz="11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only)</a:t>
            </a:r>
          </a:p>
          <a:p>
            <a:pPr lvl="1"/>
            <a:r>
              <a:rPr lang="en-US" sz="11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Emotion-agnostic (ignores paralinguistic cues)</a:t>
            </a:r>
          </a:p>
          <a:p>
            <a:pPr lvl="1"/>
            <a:r>
              <a:rPr lang="en-US" sz="11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Resource-intensive</a:t>
            </a:r>
          </a:p>
          <a:p>
            <a:pPr lvl="1"/>
            <a:endParaRPr lang="en-US" sz="11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en-US" sz="11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Need for a system that</a:t>
            </a:r>
            <a:r>
              <a:rPr lang="en-US" sz="11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lvl="1"/>
            <a:r>
              <a:rPr lang="en-US" sz="11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Support bidirectional communication </a:t>
            </a:r>
          </a:p>
          <a:p>
            <a:pPr lvl="1"/>
            <a:r>
              <a:rPr lang="en-US" sz="11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Preserves emotional tone</a:t>
            </a:r>
          </a:p>
          <a:p>
            <a:pPr lvl="1"/>
            <a:r>
              <a:rPr lang="en-US" sz="11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Works in real time</a:t>
            </a:r>
          </a:p>
        </p:txBody>
      </p:sp>
    </p:spTree>
    <p:extLst>
      <p:ext uri="{BB962C8B-B14F-4D97-AF65-F5344CB8AC3E}">
        <p14:creationId xmlns:p14="http://schemas.microsoft.com/office/powerpoint/2010/main" val="3279256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94957-66BF-6F26-07DB-FC16D75AC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95" y="32852"/>
            <a:ext cx="1894205" cy="215444"/>
          </a:xfrm>
        </p:spPr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Objectives</a:t>
            </a:r>
            <a:endParaRPr lang="en-IN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C1354CE5-DC9C-A36A-664A-186D58271803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B6AC2E9-AD9F-E8A6-0F17-00BD15DA2DF2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E5B7BA4-993B-ED95-7182-D3D406F7005D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2DF0299-518F-B32F-C228-5D318217C971}"/>
              </a:ext>
            </a:extLst>
          </p:cNvPr>
          <p:cNvSpPr txBox="1"/>
          <p:nvPr/>
        </p:nvSpPr>
        <p:spPr>
          <a:xfrm>
            <a:off x="1148225" y="839296"/>
            <a:ext cx="230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22B21C1-B6B6-406B-42C6-37E7511D1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5702"/>
            <a:ext cx="3805850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Recognize Indian Sign Language (ISL) gestures in real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Convert recognized signs into text and speech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Integrate emotion detection for expressive speech 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Enable speech-to-sign translation using animation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Build a lightweight, modular, scalable prototype</a:t>
            </a:r>
          </a:p>
        </p:txBody>
      </p:sp>
    </p:spTree>
    <p:extLst>
      <p:ext uri="{BB962C8B-B14F-4D97-AF65-F5344CB8AC3E}">
        <p14:creationId xmlns:p14="http://schemas.microsoft.com/office/powerpoint/2010/main" val="1919156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6844" y="1321419"/>
            <a:ext cx="16541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spc="13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Literature </a:t>
            </a:r>
            <a:r>
              <a:rPr sz="1400" b="1" spc="13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Review</a:t>
            </a:r>
            <a:endParaRPr sz="14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3999" y="1737741"/>
            <a:ext cx="3600450" cy="0"/>
          </a:xfrm>
          <a:custGeom>
            <a:avLst/>
            <a:gdLst/>
            <a:ahLst/>
            <a:cxnLst/>
            <a:rect l="l" t="t" r="r" b="b"/>
            <a:pathLst>
              <a:path w="3600450">
                <a:moveTo>
                  <a:pt x="0" y="0"/>
                </a:moveTo>
                <a:lnTo>
                  <a:pt x="3600005" y="0"/>
                </a:lnTo>
              </a:path>
            </a:pathLst>
          </a:custGeom>
          <a:ln w="12649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871DBE0-475A-4E8E-14FF-F90DE349E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03392"/>
              </p:ext>
            </p:extLst>
          </p:nvPr>
        </p:nvGraphicFramePr>
        <p:xfrm>
          <a:off x="95250" y="197468"/>
          <a:ext cx="4419600" cy="2578134"/>
        </p:xfrm>
        <a:graphic>
          <a:graphicData uri="http://schemas.openxmlformats.org/drawingml/2006/table">
            <a:tbl>
              <a:tblPr/>
              <a:tblGrid>
                <a:gridCol w="399186">
                  <a:extLst>
                    <a:ext uri="{9D8B030D-6E8A-4147-A177-3AD203B41FA5}">
                      <a16:colId xmlns:a16="http://schemas.microsoft.com/office/drawing/2014/main" val="3264183022"/>
                    </a:ext>
                  </a:extLst>
                </a:gridCol>
                <a:gridCol w="2199959">
                  <a:extLst>
                    <a:ext uri="{9D8B030D-6E8A-4147-A177-3AD203B41FA5}">
                      <a16:colId xmlns:a16="http://schemas.microsoft.com/office/drawing/2014/main" val="968648157"/>
                    </a:ext>
                  </a:extLst>
                </a:gridCol>
                <a:gridCol w="888576">
                  <a:extLst>
                    <a:ext uri="{9D8B030D-6E8A-4147-A177-3AD203B41FA5}">
                      <a16:colId xmlns:a16="http://schemas.microsoft.com/office/drawing/2014/main" val="1397659762"/>
                    </a:ext>
                  </a:extLst>
                </a:gridCol>
                <a:gridCol w="931879">
                  <a:extLst>
                    <a:ext uri="{9D8B030D-6E8A-4147-A177-3AD203B41FA5}">
                      <a16:colId xmlns:a16="http://schemas.microsoft.com/office/drawing/2014/main" val="4264639875"/>
                    </a:ext>
                  </a:extLst>
                </a:gridCol>
              </a:tblGrid>
              <a:tr h="310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SL.No</a:t>
                      </a:r>
                      <a:r>
                        <a:rPr lang="en-US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Paper Details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Key Innovation</a:t>
                      </a: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Limitation</a:t>
                      </a: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887914"/>
                  </a:ext>
                </a:extLst>
              </a:tr>
              <a:tr h="12708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IN" sz="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Emotion-Aware Indian Sign Language Recognition: A Multimodal Approach With Sign-Expression Correlation Analysis</a:t>
                      </a:r>
                      <a:endParaRPr lang="en-IN" sz="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Hriday Ranka et al.</a:t>
                      </a:r>
                    </a:p>
                    <a:p>
                      <a:pPr algn="l">
                        <a:buNone/>
                      </a:pPr>
                      <a:r>
                        <a:rPr lang="en-IN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(2024)</a:t>
                      </a:r>
                    </a:p>
                    <a:p>
                      <a:pPr algn="l">
                        <a:buNone/>
                      </a:pPr>
                      <a:r>
                        <a:rPr lang="en-US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Educational Administration: Theory and Practice(EATP)</a:t>
                      </a: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Multimodal LSTM (gesture)+CNN(emotion)</a:t>
                      </a: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</a:t>
                      </a:r>
                      <a:r>
                        <a:rPr lang="en-IN" sz="8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omputationally</a:t>
                      </a:r>
                      <a:r>
                        <a:rPr lang="en-IN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heavy,</a:t>
                      </a:r>
                    </a:p>
                    <a:p>
                      <a:pPr algn="l">
                        <a:buNone/>
                      </a:pPr>
                      <a:r>
                        <a:rPr lang="en-IN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Unidirectional</a:t>
                      </a: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52840"/>
                  </a:ext>
                </a:extLst>
              </a:tr>
              <a:tr h="9965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Real-time conversion of sign language to text and speech, and vice-versa</a:t>
                      </a:r>
                      <a:endParaRPr lang="en-IN" sz="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Harshavardhan Latkar et al.</a:t>
                      </a:r>
                    </a:p>
                    <a:p>
                      <a:pPr algn="l">
                        <a:buNone/>
                      </a:pPr>
                      <a:r>
                        <a:rPr lang="en-IN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(2024)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TIJER</a:t>
                      </a: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Integrating CNN-driven hand gesture recognition with NLP and speech modules 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lacks emotion awareness, sentence-level context handling, and relies on heavy CNN pipelines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64016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98F94-456B-F3D0-DA08-3E599BAA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3CBA4A-50B0-F8CB-D3CD-B4D774E08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459354"/>
              </p:ext>
            </p:extLst>
          </p:nvPr>
        </p:nvGraphicFramePr>
        <p:xfrm>
          <a:off x="95250" y="211716"/>
          <a:ext cx="4267201" cy="2549638"/>
        </p:xfrm>
        <a:graphic>
          <a:graphicData uri="http://schemas.openxmlformats.org/drawingml/2006/table">
            <a:tbl>
              <a:tblPr/>
              <a:tblGrid>
                <a:gridCol w="393290">
                  <a:extLst>
                    <a:ext uri="{9D8B030D-6E8A-4147-A177-3AD203B41FA5}">
                      <a16:colId xmlns:a16="http://schemas.microsoft.com/office/drawing/2014/main" val="1074181101"/>
                    </a:ext>
                  </a:extLst>
                </a:gridCol>
                <a:gridCol w="2149083">
                  <a:extLst>
                    <a:ext uri="{9D8B030D-6E8A-4147-A177-3AD203B41FA5}">
                      <a16:colId xmlns:a16="http://schemas.microsoft.com/office/drawing/2014/main" val="1979856967"/>
                    </a:ext>
                  </a:extLst>
                </a:gridCol>
                <a:gridCol w="869168">
                  <a:extLst>
                    <a:ext uri="{9D8B030D-6E8A-4147-A177-3AD203B41FA5}">
                      <a16:colId xmlns:a16="http://schemas.microsoft.com/office/drawing/2014/main" val="1675389104"/>
                    </a:ext>
                  </a:extLst>
                </a:gridCol>
                <a:gridCol w="855660">
                  <a:extLst>
                    <a:ext uri="{9D8B030D-6E8A-4147-A177-3AD203B41FA5}">
                      <a16:colId xmlns:a16="http://schemas.microsoft.com/office/drawing/2014/main" val="3199963765"/>
                    </a:ext>
                  </a:extLst>
                </a:gridCol>
              </a:tblGrid>
              <a:tr h="282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Sl.No</a:t>
                      </a:r>
                      <a:r>
                        <a:rPr lang="en-US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.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Paper Details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Key Innovation</a:t>
                      </a: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Limitation</a:t>
                      </a: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856559"/>
                  </a:ext>
                </a:extLst>
              </a:tr>
              <a:tr h="5280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IN" sz="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Real-Time Bidirectional Sign Language Translator Through Machine Learning</a:t>
                      </a:r>
                      <a:endParaRPr lang="en-IN" sz="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R. Sivasankar et al.</a:t>
                      </a:r>
                    </a:p>
                    <a:p>
                      <a:pPr algn="l">
                        <a:buNone/>
                      </a:pPr>
                      <a:r>
                        <a:rPr lang="en-IN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(2024)</a:t>
                      </a:r>
                    </a:p>
                    <a:p>
                      <a:pPr algn="l">
                        <a:buNone/>
                      </a:pPr>
                      <a:r>
                        <a:rPr lang="en-IN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IJERT</a:t>
                      </a:r>
                    </a:p>
                    <a:p>
                      <a:pPr algn="l">
                        <a:buNone/>
                      </a:pPr>
                      <a:endParaRPr lang="en-IN" sz="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Real time bidirectional conversion using CNNs and </a:t>
                      </a:r>
                      <a:r>
                        <a:rPr lang="en-US" sz="8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Mediapipe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lacks sentence-level construction, emotion awareness, and ISL-specific linguistic modeling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31927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Indian Sign Language Recognition using SURF with SVM and CNN</a:t>
                      </a:r>
                      <a:endParaRPr lang="en-IN" sz="8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Shagun Katoch et al.</a:t>
                      </a:r>
                    </a:p>
                    <a:p>
                      <a:pPr algn="l">
                        <a:buNone/>
                      </a:pPr>
                      <a:r>
                        <a:rPr lang="en-IN" sz="8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(2022)</a:t>
                      </a:r>
                      <a:r>
                        <a:rPr lang="en-IN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Elsevier</a:t>
                      </a: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Uses SURF features with a Bag-of-Visual-Words model combined with SVM and CNN to achieve high accuracy for static ISL signs without special hardware.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Limited to static signs and word-level output, lacks sentence formation, emotion awareness, and real-time conversational bidirectional communication.</a:t>
                      </a:r>
                      <a:endParaRPr lang="en-IN" sz="8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18209" marR="18209" marT="18209" marB="1820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89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873048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CA65-9511-494B-B17D-5CF97751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FDDCD8-1C18-7C78-5CDB-1C66C42349CD}"/>
              </a:ext>
            </a:extLst>
          </p:cNvPr>
          <p:cNvSpPr txBox="1"/>
          <p:nvPr/>
        </p:nvSpPr>
        <p:spPr>
          <a:xfrm>
            <a:off x="1727314" y="1321419"/>
            <a:ext cx="133973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spc="12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Research Gap</a:t>
            </a:r>
            <a:endParaRPr sz="14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BC53D9D-72F8-231C-5510-2782D7CB0690}"/>
              </a:ext>
            </a:extLst>
          </p:cNvPr>
          <p:cNvSpPr/>
          <p:nvPr/>
        </p:nvSpPr>
        <p:spPr>
          <a:xfrm>
            <a:off x="503999" y="1737741"/>
            <a:ext cx="3600450" cy="0"/>
          </a:xfrm>
          <a:custGeom>
            <a:avLst/>
            <a:gdLst/>
            <a:ahLst/>
            <a:cxnLst/>
            <a:rect l="l" t="t" r="r" b="b"/>
            <a:pathLst>
              <a:path w="3600450">
                <a:moveTo>
                  <a:pt x="0" y="0"/>
                </a:moveTo>
                <a:lnTo>
                  <a:pt x="3600005" y="0"/>
                </a:lnTo>
              </a:path>
            </a:pathLst>
          </a:custGeom>
          <a:ln w="12649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3197766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E91C-E69D-8043-9095-9302CBAA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E8EECB-15D6-2905-FA64-F455E21D775A}"/>
              </a:ext>
            </a:extLst>
          </p:cNvPr>
          <p:cNvSpPr txBox="1"/>
          <p:nvPr/>
        </p:nvSpPr>
        <p:spPr>
          <a:xfrm>
            <a:off x="19050" y="61046"/>
            <a:ext cx="29990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R</a:t>
            </a:r>
            <a:r>
              <a:rPr lang="en-IN" sz="1400" b="1" dirty="0" err="1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esearch</a:t>
            </a:r>
            <a:r>
              <a:rPr lang="en-IN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Gap</a:t>
            </a:r>
            <a:endParaRPr sz="1400" b="1" dirty="0">
              <a:solidFill>
                <a:schemeClr val="hlink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EFAE41F-54B1-4D17-F35E-7ADB7578C75E}"/>
              </a:ext>
            </a:extLst>
          </p:cNvPr>
          <p:cNvSpPr txBox="1"/>
          <p:nvPr/>
        </p:nvSpPr>
        <p:spPr>
          <a:xfrm>
            <a:off x="4330430" y="88524"/>
            <a:ext cx="15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070707"/>
                </a:solidFill>
                <a:latin typeface="Calibri"/>
                <a:cs typeface="Calibri"/>
              </a:rPr>
              <a:t>18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79755073-7B21-CBDE-DAEF-F34188E3C008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71395B2-DA9E-F990-7512-326E9448F554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F8142A3-8F1C-A7B6-35F6-68066538C512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EB071749-4578-9D4A-3AAF-6CCD854FA905}"/>
              </a:ext>
            </a:extLst>
          </p:cNvPr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C96BA3-CB84-A373-75C1-05D58347B60D}"/>
              </a:ext>
            </a:extLst>
          </p:cNvPr>
          <p:cNvSpPr txBox="1"/>
          <p:nvPr/>
        </p:nvSpPr>
        <p:spPr>
          <a:xfrm>
            <a:off x="-11" y="407035"/>
            <a:ext cx="301811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Lack of Emotion-Aware translation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One-way Communication focus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Heavy and Non-Real-time Models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Limited focus on ISL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Poor sentence level construction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Lack of User-Centric UI &amp; Accessibility</a:t>
            </a:r>
          </a:p>
          <a:p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en-IN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442663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3222" y="1281414"/>
            <a:ext cx="12020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14" dirty="0">
                <a:solidFill>
                  <a:srgbClr val="BF003F"/>
                </a:solidFill>
                <a:latin typeface="Calibri"/>
                <a:cs typeface="Calibri"/>
              </a:rPr>
              <a:t>Methodology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3999" y="1697736"/>
            <a:ext cx="3600450" cy="0"/>
          </a:xfrm>
          <a:custGeom>
            <a:avLst/>
            <a:gdLst/>
            <a:ahLst/>
            <a:cxnLst/>
            <a:rect l="l" t="t" r="r" b="b"/>
            <a:pathLst>
              <a:path w="3600450">
                <a:moveTo>
                  <a:pt x="0" y="0"/>
                </a:moveTo>
                <a:lnTo>
                  <a:pt x="3600005" y="0"/>
                </a:lnTo>
              </a:path>
            </a:pathLst>
          </a:custGeom>
          <a:ln w="12649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" y="61046"/>
            <a:ext cx="29990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Two-Way Communication Pipeline</a:t>
            </a:r>
            <a:endParaRPr sz="1400" b="1" dirty="0">
              <a:solidFill>
                <a:schemeClr val="hlink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0430" y="88524"/>
            <a:ext cx="15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070707"/>
                </a:solidFill>
                <a:latin typeface="Calibri"/>
                <a:cs typeface="Calibri"/>
              </a:rPr>
              <a:t>18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8244F7-58DB-1812-20AE-C05049DD2101}"/>
              </a:ext>
            </a:extLst>
          </p:cNvPr>
          <p:cNvSpPr txBox="1"/>
          <p:nvPr/>
        </p:nvSpPr>
        <p:spPr>
          <a:xfrm>
            <a:off x="-10" y="407035"/>
            <a:ext cx="2590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Deaf to Hearing</a:t>
            </a:r>
            <a:endParaRPr lang="en-IN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9E382E-878B-BDB6-2CED-A06F221F0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577" y="413957"/>
            <a:ext cx="1243673" cy="28080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4">
            <a:extLst>
              <a:ext uri="{FF2B5EF4-FFF2-40B4-BE49-F238E27FC236}">
                <a16:creationId xmlns:a16="http://schemas.microsoft.com/office/drawing/2014/main" id="{424064CF-D4EE-14F8-0BDF-4556AA937083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3" name="object 5">
              <a:extLst>
                <a:ext uri="{FF2B5EF4-FFF2-40B4-BE49-F238E27FC236}">
                  <a16:creationId xmlns:a16="http://schemas.microsoft.com/office/drawing/2014/main" id="{422DCD04-3089-E585-CA79-8262C8357CEE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E576D683-C335-4037-88C6-6268314C250A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2">
            <a:extLst>
              <a:ext uri="{FF2B5EF4-FFF2-40B4-BE49-F238E27FC236}">
                <a16:creationId xmlns:a16="http://schemas.microsoft.com/office/drawing/2014/main" id="{D4D4A9C3-9A96-FC97-8D6F-B60210EFA973}"/>
              </a:ext>
            </a:extLst>
          </p:cNvPr>
          <p:cNvSpPr txBox="1"/>
          <p:nvPr/>
        </p:nvSpPr>
        <p:spPr>
          <a:xfrm>
            <a:off x="19050" y="61046"/>
            <a:ext cx="29990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Two-Way Communication Pipeline</a:t>
            </a:r>
            <a:endParaRPr sz="1400" b="1" dirty="0">
              <a:solidFill>
                <a:schemeClr val="hlink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BB71E-E7BE-AF64-0235-3B271B093E64}"/>
              </a:ext>
            </a:extLst>
          </p:cNvPr>
          <p:cNvSpPr txBox="1"/>
          <p:nvPr/>
        </p:nvSpPr>
        <p:spPr>
          <a:xfrm>
            <a:off x="-10" y="403514"/>
            <a:ext cx="2438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Hearing to Deaf</a:t>
            </a:r>
            <a:endParaRPr lang="en-IN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34F199-33DB-53B1-9CD9-BC0A6A412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0" y="578328"/>
            <a:ext cx="1127144" cy="28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092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4">
            <a:extLst>
              <a:ext uri="{FF2B5EF4-FFF2-40B4-BE49-F238E27FC236}">
                <a16:creationId xmlns:a16="http://schemas.microsoft.com/office/drawing/2014/main" id="{0AA8E3D7-F6E6-5B58-8BBF-AD0E81203665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3" name="object 5">
              <a:extLst>
                <a:ext uri="{FF2B5EF4-FFF2-40B4-BE49-F238E27FC236}">
                  <a16:creationId xmlns:a16="http://schemas.microsoft.com/office/drawing/2014/main" id="{6226C28E-F2AD-27FA-AABF-6477DA3D1D54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4F92C4F7-C573-B5C6-0F57-CD58D3A1C65B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2">
            <a:extLst>
              <a:ext uri="{FF2B5EF4-FFF2-40B4-BE49-F238E27FC236}">
                <a16:creationId xmlns:a16="http://schemas.microsoft.com/office/drawing/2014/main" id="{F6D11978-8538-3405-255F-BBEB914521FD}"/>
              </a:ext>
            </a:extLst>
          </p:cNvPr>
          <p:cNvSpPr txBox="1"/>
          <p:nvPr/>
        </p:nvSpPr>
        <p:spPr>
          <a:xfrm>
            <a:off x="19050" y="61046"/>
            <a:ext cx="29990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Two-Way Communication Pipeline</a:t>
            </a:r>
            <a:endParaRPr sz="1400" b="1" dirty="0">
              <a:solidFill>
                <a:schemeClr val="hlink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C203B6-D771-B465-1A7F-777232EF30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511175"/>
            <a:ext cx="4218749" cy="281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14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4">
            <a:extLst>
              <a:ext uri="{FF2B5EF4-FFF2-40B4-BE49-F238E27FC236}">
                <a16:creationId xmlns:a16="http://schemas.microsoft.com/office/drawing/2014/main" id="{D06D5E9A-7097-D369-D17A-ECF83222B9DE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3" name="object 5">
              <a:extLst>
                <a:ext uri="{FF2B5EF4-FFF2-40B4-BE49-F238E27FC236}">
                  <a16:creationId xmlns:a16="http://schemas.microsoft.com/office/drawing/2014/main" id="{F304183C-E9AC-3C64-483A-57FC6B7121E7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F677C6D6-E667-E08A-4525-40D2DAA683C3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2">
            <a:extLst>
              <a:ext uri="{FF2B5EF4-FFF2-40B4-BE49-F238E27FC236}">
                <a16:creationId xmlns:a16="http://schemas.microsoft.com/office/drawing/2014/main" id="{9D0CA921-8123-E476-FC0A-927933CA9F42}"/>
              </a:ext>
            </a:extLst>
          </p:cNvPr>
          <p:cNvSpPr txBox="1"/>
          <p:nvPr/>
        </p:nvSpPr>
        <p:spPr>
          <a:xfrm>
            <a:off x="19050" y="61046"/>
            <a:ext cx="29990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M</a:t>
            </a:r>
            <a:r>
              <a:rPr lang="en-IN" sz="1400" b="1" dirty="0" err="1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odule</a:t>
            </a:r>
            <a:r>
              <a:rPr lang="en-IN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Explanation</a:t>
            </a:r>
            <a:endParaRPr sz="1400" b="1" dirty="0">
              <a:solidFill>
                <a:schemeClr val="hlink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E4224A-33D9-99D7-A5A8-344926B588F1}"/>
              </a:ext>
            </a:extLst>
          </p:cNvPr>
          <p:cNvSpPr txBox="1"/>
          <p:nvPr/>
        </p:nvSpPr>
        <p:spPr>
          <a:xfrm>
            <a:off x="95250" y="470519"/>
            <a:ext cx="3276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Module 1: Data Acquisition</a:t>
            </a:r>
          </a:p>
          <a:p>
            <a:endParaRPr lang="en-IN" sz="11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53421BE-E38E-6FC6-C841-A9534F756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757837"/>
            <a:ext cx="332975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Custom ISL dataset collection</a:t>
            </a:r>
            <a:endParaRPr lang="en-US" altLang="en-US" sz="11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Hand landmark extraction (63 numerical features)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Labelled gesture </a:t>
            </a:r>
            <a:endParaRPr lang="en-US" altLang="en-US" sz="11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samples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FF4F3F-BCFC-4826-F18E-CCE469619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038" y="1444926"/>
            <a:ext cx="2914650" cy="202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9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4F0211-6ED1-5C88-32BE-D7296D462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" y="974929"/>
            <a:ext cx="4392000" cy="1510892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" name="object 4">
            <a:extLst>
              <a:ext uri="{FF2B5EF4-FFF2-40B4-BE49-F238E27FC236}">
                <a16:creationId xmlns:a16="http://schemas.microsoft.com/office/drawing/2014/main" id="{D0F95422-F064-6840-310B-40BA06B8F536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A697E2CD-F508-6F45-A720-9A9109C47A57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0AEAE4DA-4007-3B49-F92D-27B3BEE8AFE0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2">
            <a:extLst>
              <a:ext uri="{FF2B5EF4-FFF2-40B4-BE49-F238E27FC236}">
                <a16:creationId xmlns:a16="http://schemas.microsoft.com/office/drawing/2014/main" id="{AE2433B8-7B52-BE25-1F14-E61DDD3DC6E7}"/>
              </a:ext>
            </a:extLst>
          </p:cNvPr>
          <p:cNvSpPr txBox="1"/>
          <p:nvPr/>
        </p:nvSpPr>
        <p:spPr>
          <a:xfrm>
            <a:off x="19050" y="61046"/>
            <a:ext cx="29990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M</a:t>
            </a:r>
            <a:r>
              <a:rPr lang="en-IN" sz="1400" b="1" dirty="0" err="1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odule</a:t>
            </a:r>
            <a:r>
              <a:rPr lang="en-IN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Explanation</a:t>
            </a:r>
            <a:endParaRPr sz="1400" b="1" dirty="0">
              <a:solidFill>
                <a:schemeClr val="hlink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45DD8-8C96-E27A-666A-CDC9A4DE4438}"/>
              </a:ext>
            </a:extLst>
          </p:cNvPr>
          <p:cNvSpPr txBox="1"/>
          <p:nvPr/>
        </p:nvSpPr>
        <p:spPr>
          <a:xfrm>
            <a:off x="19050" y="555154"/>
            <a:ext cx="198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Final dataset</a:t>
            </a:r>
            <a:endParaRPr lang="en-IN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007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41E3C-BED6-1116-E4CF-207CB8718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4">
            <a:extLst>
              <a:ext uri="{FF2B5EF4-FFF2-40B4-BE49-F238E27FC236}">
                <a16:creationId xmlns:a16="http://schemas.microsoft.com/office/drawing/2014/main" id="{2FED0769-5213-A445-EF6B-F3F80B051466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742D0147-F982-BD48-5E50-BB278CF4E830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9A5C7404-14A6-3E40-CAC7-4E0DE41C3259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2">
            <a:extLst>
              <a:ext uri="{FF2B5EF4-FFF2-40B4-BE49-F238E27FC236}">
                <a16:creationId xmlns:a16="http://schemas.microsoft.com/office/drawing/2014/main" id="{61BEC118-F571-04DF-E87C-A6207399DB5A}"/>
              </a:ext>
            </a:extLst>
          </p:cNvPr>
          <p:cNvSpPr txBox="1"/>
          <p:nvPr/>
        </p:nvSpPr>
        <p:spPr>
          <a:xfrm>
            <a:off x="19050" y="61046"/>
            <a:ext cx="29990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M</a:t>
            </a:r>
            <a:r>
              <a:rPr lang="en-IN" sz="1400" b="1" dirty="0" err="1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odule</a:t>
            </a:r>
            <a:r>
              <a:rPr lang="en-IN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Explanation</a:t>
            </a:r>
            <a:endParaRPr sz="1400" b="1" dirty="0">
              <a:solidFill>
                <a:schemeClr val="hlink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833DC6-22AE-AD90-5AB6-9F41885B988D}"/>
              </a:ext>
            </a:extLst>
          </p:cNvPr>
          <p:cNvSpPr txBox="1"/>
          <p:nvPr/>
        </p:nvSpPr>
        <p:spPr>
          <a:xfrm>
            <a:off x="95250" y="511175"/>
            <a:ext cx="2590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Module 2: Gesture Recognition</a:t>
            </a:r>
          </a:p>
          <a:p>
            <a:endParaRPr lang="en-US" sz="1100" b="1" dirty="0"/>
          </a:p>
          <a:p>
            <a:r>
              <a:rPr lang="en-US" sz="1100" dirty="0"/>
              <a:t>Feature scaling</a:t>
            </a:r>
          </a:p>
          <a:p>
            <a:endParaRPr lang="en-US" sz="1100" dirty="0"/>
          </a:p>
          <a:p>
            <a:r>
              <a:rPr lang="en-US" sz="1100" dirty="0"/>
              <a:t>ML classifier training(SVM)</a:t>
            </a:r>
          </a:p>
          <a:p>
            <a:endParaRPr lang="en-US" sz="1100" dirty="0"/>
          </a:p>
          <a:p>
            <a:r>
              <a:rPr lang="en-US" sz="1100" dirty="0"/>
              <a:t>Real-time prediction</a:t>
            </a:r>
          </a:p>
          <a:p>
            <a:endParaRPr lang="en-US" sz="1100" dirty="0"/>
          </a:p>
          <a:p>
            <a:r>
              <a:rPr lang="en-US" sz="1100" b="1" dirty="0"/>
              <a:t>Module 3: Sentence Construction</a:t>
            </a:r>
          </a:p>
          <a:p>
            <a:endParaRPr lang="en-US" sz="1100" b="1" dirty="0"/>
          </a:p>
          <a:p>
            <a:r>
              <a:rPr lang="en-US" sz="1100" dirty="0"/>
              <a:t>Temporal stability logic</a:t>
            </a:r>
          </a:p>
          <a:p>
            <a:endParaRPr lang="en-US" sz="1100" dirty="0"/>
          </a:p>
          <a:p>
            <a:r>
              <a:rPr lang="en-US" sz="1100" dirty="0"/>
              <a:t>Full-stop based segmentation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08735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142AB-F62D-9999-8C53-C9607ACE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4">
            <a:extLst>
              <a:ext uri="{FF2B5EF4-FFF2-40B4-BE49-F238E27FC236}">
                <a16:creationId xmlns:a16="http://schemas.microsoft.com/office/drawing/2014/main" id="{F00A940B-B88E-48AB-AFB1-07AF65583FBD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35279A35-C2B7-11BE-9C47-AF59ACB89BF8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80147C88-E732-B6AD-0818-1A21602CA4B5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2">
            <a:extLst>
              <a:ext uri="{FF2B5EF4-FFF2-40B4-BE49-F238E27FC236}">
                <a16:creationId xmlns:a16="http://schemas.microsoft.com/office/drawing/2014/main" id="{07194A1C-3BF1-2C27-46A2-5D93CCD4E304}"/>
              </a:ext>
            </a:extLst>
          </p:cNvPr>
          <p:cNvSpPr txBox="1"/>
          <p:nvPr/>
        </p:nvSpPr>
        <p:spPr>
          <a:xfrm>
            <a:off x="19050" y="61046"/>
            <a:ext cx="29990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M</a:t>
            </a:r>
            <a:r>
              <a:rPr lang="en-IN" sz="1400" b="1" dirty="0" err="1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odule</a:t>
            </a:r>
            <a:r>
              <a:rPr lang="en-IN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Explanation</a:t>
            </a:r>
            <a:endParaRPr sz="1400" b="1" dirty="0">
              <a:solidFill>
                <a:schemeClr val="hlink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CB7AA3-55FA-9C63-B1CB-361176776028}"/>
              </a:ext>
            </a:extLst>
          </p:cNvPr>
          <p:cNvSpPr txBox="1"/>
          <p:nvPr/>
        </p:nvSpPr>
        <p:spPr>
          <a:xfrm>
            <a:off x="19050" y="490706"/>
            <a:ext cx="350520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Module 4: Speech Output</a:t>
            </a:r>
          </a:p>
          <a:p>
            <a:endParaRPr lang="en-US" sz="1100" b="1" dirty="0"/>
          </a:p>
          <a:p>
            <a:r>
              <a:rPr lang="en-US" sz="1100" dirty="0"/>
              <a:t>Word-level TTS(Google TTS)</a:t>
            </a:r>
          </a:p>
          <a:p>
            <a:endParaRPr lang="en-US" sz="1100" dirty="0"/>
          </a:p>
          <a:p>
            <a:r>
              <a:rPr lang="en-US" sz="1100" dirty="0"/>
              <a:t>Emotion-aware speech modulation</a:t>
            </a:r>
          </a:p>
          <a:p>
            <a:endParaRPr lang="en-US" sz="1100" dirty="0"/>
          </a:p>
          <a:p>
            <a:r>
              <a:rPr lang="en-US" sz="1100" b="1" dirty="0"/>
              <a:t>Module 5: Speech Acquisition</a:t>
            </a:r>
          </a:p>
          <a:p>
            <a:endParaRPr lang="en-US" sz="1100" b="1" dirty="0"/>
          </a:p>
          <a:p>
            <a:r>
              <a:rPr lang="en-US" sz="1100" dirty="0"/>
              <a:t>Live speech capture using microphone(Web Speech API)</a:t>
            </a:r>
          </a:p>
          <a:p>
            <a:endParaRPr lang="en-US" sz="1100" dirty="0"/>
          </a:p>
          <a:p>
            <a:r>
              <a:rPr lang="en-US" sz="1100" dirty="0"/>
              <a:t>Real-time speech-to-text conversion(</a:t>
            </a:r>
            <a:r>
              <a:rPr lang="en-US" sz="1100" dirty="0" err="1"/>
              <a:t>SpeechRecognition</a:t>
            </a:r>
            <a:r>
              <a:rPr lang="en-US" sz="1100" dirty="0"/>
              <a:t> API)</a:t>
            </a:r>
          </a:p>
          <a:p>
            <a:endParaRPr lang="en-US" sz="1100" dirty="0"/>
          </a:p>
          <a:p>
            <a:r>
              <a:rPr lang="en-US" sz="1100" dirty="0"/>
              <a:t>Noise-tolerant input handling</a:t>
            </a:r>
          </a:p>
          <a:p>
            <a:endParaRPr lang="en-US" sz="1100" dirty="0"/>
          </a:p>
          <a:p>
            <a:endParaRPr lang="en-IN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540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B659F-533C-ACED-8851-E803C733E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4">
            <a:extLst>
              <a:ext uri="{FF2B5EF4-FFF2-40B4-BE49-F238E27FC236}">
                <a16:creationId xmlns:a16="http://schemas.microsoft.com/office/drawing/2014/main" id="{4B016846-3D66-EB73-6EDD-BC3761C6303A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CA61D719-7173-4B43-BAC8-3359FF105FFA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BC2766D9-B710-6AE1-1A33-28F133E474A1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2">
            <a:extLst>
              <a:ext uri="{FF2B5EF4-FFF2-40B4-BE49-F238E27FC236}">
                <a16:creationId xmlns:a16="http://schemas.microsoft.com/office/drawing/2014/main" id="{DDF15D26-8D8B-BEEE-58F7-D176335270CD}"/>
              </a:ext>
            </a:extLst>
          </p:cNvPr>
          <p:cNvSpPr txBox="1"/>
          <p:nvPr/>
        </p:nvSpPr>
        <p:spPr>
          <a:xfrm>
            <a:off x="19050" y="61046"/>
            <a:ext cx="29990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M</a:t>
            </a:r>
            <a:r>
              <a:rPr lang="en-IN" sz="1400" b="1" dirty="0" err="1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odule</a:t>
            </a:r>
            <a:r>
              <a:rPr lang="en-IN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Explanation</a:t>
            </a:r>
            <a:endParaRPr sz="1400" b="1" dirty="0">
              <a:solidFill>
                <a:schemeClr val="hlink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DDD324-2AC2-C993-7D8C-B68A6ED410C2}"/>
              </a:ext>
            </a:extLst>
          </p:cNvPr>
          <p:cNvSpPr txBox="1"/>
          <p:nvPr/>
        </p:nvSpPr>
        <p:spPr>
          <a:xfrm>
            <a:off x="-23632" y="457945"/>
            <a:ext cx="449580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Module 6: Text Preprocessing &amp; Normalization</a:t>
            </a:r>
          </a:p>
          <a:p>
            <a:endParaRPr lang="en-US" sz="1100" b="1" dirty="0"/>
          </a:p>
          <a:p>
            <a:r>
              <a:rPr lang="en-US" sz="1100" dirty="0"/>
              <a:t>Removal of auxiliary words (is, are, am, the)</a:t>
            </a:r>
          </a:p>
          <a:p>
            <a:endParaRPr lang="en-US" sz="1100" dirty="0"/>
          </a:p>
          <a:p>
            <a:r>
              <a:rPr lang="en-US" sz="1100" dirty="0"/>
              <a:t>Conversion to ISL-friendly sentence structure</a:t>
            </a:r>
          </a:p>
          <a:p>
            <a:endParaRPr lang="en-US" sz="1100" dirty="0"/>
          </a:p>
          <a:p>
            <a:r>
              <a:rPr lang="en-US" sz="1100" dirty="0"/>
              <a:t>Tokenization into supported vocabulary</a:t>
            </a:r>
          </a:p>
          <a:p>
            <a:endParaRPr lang="en-US" sz="1100" dirty="0"/>
          </a:p>
          <a:p>
            <a:r>
              <a:rPr lang="en-US" sz="1100" b="1" dirty="0"/>
              <a:t>Module 7: Sign Mapping</a:t>
            </a:r>
          </a:p>
          <a:p>
            <a:endParaRPr lang="en-US" sz="1100" b="1" dirty="0"/>
          </a:p>
          <a:p>
            <a:r>
              <a:rPr lang="en-US" sz="1100" dirty="0"/>
              <a:t>Mapping processed words to ISL sign dictionary</a:t>
            </a:r>
          </a:p>
          <a:p>
            <a:endParaRPr lang="en-US" sz="1100" dirty="0"/>
          </a:p>
          <a:p>
            <a:r>
              <a:rPr lang="en-US" sz="1100" dirty="0"/>
              <a:t>Vocabulary-based lookup mechanism</a:t>
            </a:r>
          </a:p>
          <a:p>
            <a:endParaRPr lang="en-US" sz="1100" dirty="0"/>
          </a:p>
          <a:p>
            <a:r>
              <a:rPr lang="en-US" sz="1100" dirty="0"/>
              <a:t>Supports extensible sign set</a:t>
            </a:r>
          </a:p>
          <a:p>
            <a:endParaRPr lang="en-US" sz="1100" dirty="0"/>
          </a:p>
          <a:p>
            <a:endParaRPr lang="en-IN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300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14F3-CADB-2F07-EEF9-2ACE284F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4">
            <a:extLst>
              <a:ext uri="{FF2B5EF4-FFF2-40B4-BE49-F238E27FC236}">
                <a16:creationId xmlns:a16="http://schemas.microsoft.com/office/drawing/2014/main" id="{3C6C97ED-1029-4442-3350-6287CDAF93DF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28032CD0-D2C9-2FFA-F210-E1347F4D3057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5CA9D197-3A80-901F-0E24-6484877D8BB4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2">
            <a:extLst>
              <a:ext uri="{FF2B5EF4-FFF2-40B4-BE49-F238E27FC236}">
                <a16:creationId xmlns:a16="http://schemas.microsoft.com/office/drawing/2014/main" id="{B882B9DA-C2BE-ACDE-116B-291A71297C76}"/>
              </a:ext>
            </a:extLst>
          </p:cNvPr>
          <p:cNvSpPr txBox="1"/>
          <p:nvPr/>
        </p:nvSpPr>
        <p:spPr>
          <a:xfrm>
            <a:off x="19050" y="61046"/>
            <a:ext cx="29990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M</a:t>
            </a:r>
            <a:r>
              <a:rPr lang="en-IN" sz="1400" b="1" dirty="0" err="1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odule</a:t>
            </a:r>
            <a:r>
              <a:rPr lang="en-IN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Explanation</a:t>
            </a:r>
            <a:endParaRPr sz="1400" b="1" dirty="0">
              <a:solidFill>
                <a:schemeClr val="hlink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193304-1CC6-B766-EB1F-B33B1166AD38}"/>
              </a:ext>
            </a:extLst>
          </p:cNvPr>
          <p:cNvSpPr txBox="1"/>
          <p:nvPr/>
        </p:nvSpPr>
        <p:spPr>
          <a:xfrm>
            <a:off x="0" y="511175"/>
            <a:ext cx="3657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Module 8: 2D Sign Animation</a:t>
            </a:r>
          </a:p>
          <a:p>
            <a:endParaRPr lang="en-US" sz="1100" b="1" dirty="0"/>
          </a:p>
          <a:p>
            <a:r>
              <a:rPr lang="en-US" sz="1100" dirty="0"/>
              <a:t>Sequential display of ISL signs</a:t>
            </a:r>
          </a:p>
          <a:p>
            <a:endParaRPr lang="en-US" sz="1100" dirty="0"/>
          </a:p>
          <a:p>
            <a:r>
              <a:rPr lang="en-US" sz="1100" dirty="0"/>
              <a:t>Lightweight 2D animation rendering</a:t>
            </a:r>
          </a:p>
          <a:p>
            <a:endParaRPr lang="en-US" sz="1100" dirty="0"/>
          </a:p>
          <a:p>
            <a:r>
              <a:rPr lang="en-US" sz="1100" dirty="0"/>
              <a:t>Adjustable timing between signs</a:t>
            </a:r>
          </a:p>
          <a:p>
            <a:endParaRPr lang="en-US" sz="1100" dirty="0"/>
          </a:p>
          <a:p>
            <a:r>
              <a:rPr lang="en-US" sz="1100" b="1" dirty="0"/>
              <a:t>Module 9: Emotion Integration</a:t>
            </a:r>
          </a:p>
          <a:p>
            <a:endParaRPr lang="en-US" sz="1100" b="1" dirty="0"/>
          </a:p>
          <a:p>
            <a:r>
              <a:rPr lang="en-US" sz="1100" dirty="0"/>
              <a:t>Emotion tagging based on speech tone or context</a:t>
            </a:r>
          </a:p>
          <a:p>
            <a:endParaRPr lang="en-US" sz="1100" dirty="0"/>
          </a:p>
          <a:p>
            <a:r>
              <a:rPr lang="en-US" sz="1100" dirty="0"/>
              <a:t>Facial expression mapping for signs</a:t>
            </a:r>
          </a:p>
          <a:p>
            <a:endParaRPr lang="en-US" sz="1100" dirty="0"/>
          </a:p>
          <a:p>
            <a:r>
              <a:rPr lang="en-US" sz="1100" dirty="0"/>
              <a:t>Emotion-consistent animation playback</a:t>
            </a:r>
          </a:p>
          <a:p>
            <a:r>
              <a:rPr lang="en-US" sz="1100" dirty="0"/>
              <a:t> (Rule Based Mapping)</a:t>
            </a:r>
          </a:p>
          <a:p>
            <a:endParaRPr lang="en-US" sz="1100" dirty="0"/>
          </a:p>
          <a:p>
            <a:endParaRPr lang="en-IN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436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C2D5-78D2-8872-5F9F-E58C3DC6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4">
            <a:extLst>
              <a:ext uri="{FF2B5EF4-FFF2-40B4-BE49-F238E27FC236}">
                <a16:creationId xmlns:a16="http://schemas.microsoft.com/office/drawing/2014/main" id="{15AC72F0-8149-DB0F-310C-73589AA2F2A2}"/>
              </a:ext>
            </a:extLst>
          </p:cNvPr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BEC76E8F-1157-BC21-4845-F335367817B5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06019E87-5A54-CAF4-C74A-5C3CCDC65D72}"/>
                </a:ext>
              </a:extLst>
            </p:cNvPr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2">
            <a:extLst>
              <a:ext uri="{FF2B5EF4-FFF2-40B4-BE49-F238E27FC236}">
                <a16:creationId xmlns:a16="http://schemas.microsoft.com/office/drawing/2014/main" id="{476E5212-A85D-4DFE-6B4C-05CBB9248E18}"/>
              </a:ext>
            </a:extLst>
          </p:cNvPr>
          <p:cNvSpPr txBox="1"/>
          <p:nvPr/>
        </p:nvSpPr>
        <p:spPr>
          <a:xfrm>
            <a:off x="19050" y="61046"/>
            <a:ext cx="29990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M</a:t>
            </a:r>
            <a:r>
              <a:rPr lang="en-IN" sz="1400" b="1" dirty="0" err="1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odule</a:t>
            </a:r>
            <a:r>
              <a:rPr lang="en-IN" sz="1400" b="1" dirty="0">
                <a:solidFill>
                  <a:schemeClr val="hlin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Explanation</a:t>
            </a:r>
            <a:endParaRPr sz="1400" b="1" dirty="0">
              <a:solidFill>
                <a:schemeClr val="hlink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44CF12-E7CB-C5D8-2AA1-A09AC9F73ED2}"/>
              </a:ext>
            </a:extLst>
          </p:cNvPr>
          <p:cNvSpPr txBox="1"/>
          <p:nvPr/>
        </p:nvSpPr>
        <p:spPr>
          <a:xfrm>
            <a:off x="19050" y="555154"/>
            <a:ext cx="327660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Module 10: User Interface</a:t>
            </a:r>
          </a:p>
          <a:p>
            <a:endParaRPr lang="en-US" sz="1100" b="1" dirty="0"/>
          </a:p>
          <a:p>
            <a:r>
              <a:rPr lang="en-US" sz="1100" dirty="0"/>
              <a:t>Split-screen interaction (Hearing ↔ Deaf)</a:t>
            </a:r>
          </a:p>
          <a:p>
            <a:endParaRPr lang="en-US" sz="1100" dirty="0"/>
          </a:p>
          <a:p>
            <a:r>
              <a:rPr lang="en-US" sz="1100" dirty="0"/>
              <a:t>Display of recognized speech text</a:t>
            </a:r>
          </a:p>
          <a:p>
            <a:endParaRPr lang="en-US" sz="1100" dirty="0"/>
          </a:p>
          <a:p>
            <a:r>
              <a:rPr lang="en-US" sz="1100" dirty="0"/>
              <a:t>Visual sign animation output</a:t>
            </a:r>
          </a:p>
          <a:p>
            <a:endParaRPr lang="en-US" sz="1100" dirty="0"/>
          </a:p>
          <a:p>
            <a:endParaRPr lang="en-IN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298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871" y="1321419"/>
            <a:ext cx="31095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Pro</a:t>
            </a:r>
            <a:r>
              <a:rPr lang="en-US" sz="1400" b="1" spc="15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j</a:t>
            </a:r>
            <a:r>
              <a:rPr sz="1400" b="1" spc="15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ect</a:t>
            </a:r>
            <a:r>
              <a:rPr sz="1400" b="1" spc="229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1400" b="1" spc="13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Progress</a:t>
            </a:r>
            <a:r>
              <a:rPr sz="1400" b="1" spc="22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1400" b="1" spc="26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&amp;</a:t>
            </a:r>
            <a:r>
              <a:rPr sz="1400" b="1" spc="23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1400" b="1" spc="140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Pending</a:t>
            </a:r>
            <a:r>
              <a:rPr sz="1400" b="1" spc="229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1400" b="1" spc="13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Work</a:t>
            </a:r>
            <a:endParaRPr sz="14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3999" y="1737741"/>
            <a:ext cx="3600450" cy="0"/>
          </a:xfrm>
          <a:custGeom>
            <a:avLst/>
            <a:gdLst/>
            <a:ahLst/>
            <a:cxnLst/>
            <a:rect l="l" t="t" r="r" b="b"/>
            <a:pathLst>
              <a:path w="3600450">
                <a:moveTo>
                  <a:pt x="0" y="0"/>
                </a:moveTo>
                <a:lnTo>
                  <a:pt x="3600005" y="0"/>
                </a:lnTo>
              </a:path>
            </a:pathLst>
          </a:custGeom>
          <a:ln w="12649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95" y="32852"/>
            <a:ext cx="18942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60" dirty="0">
                <a:latin typeface="Cambria Math" panose="02040503050406030204" pitchFamily="18" charset="0"/>
                <a:ea typeface="Cambria Math" panose="02040503050406030204" pitchFamily="18" charset="0"/>
              </a:rPr>
              <a:t>Current</a:t>
            </a:r>
            <a:r>
              <a:rPr spc="24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pc="120" dirty="0">
                <a:latin typeface="Cambria Math" panose="02040503050406030204" pitchFamily="18" charset="0"/>
                <a:ea typeface="Cambria Math" panose="02040503050406030204" pitchFamily="18" charset="0"/>
              </a:rPr>
              <a:t>Status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30902" y="88524"/>
            <a:ext cx="15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070707"/>
                </a:solidFill>
                <a:latin typeface="Calibri"/>
                <a:cs typeface="Calibri"/>
              </a:rPr>
              <a:t>14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B2670FC-8672-6221-CA5C-C50695E5C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85" y="574301"/>
            <a:ext cx="2733441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MediaPipe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 landmark extraction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 ISL dataset creation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ML model training &amp;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sign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Sentence construction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Word-by-word speech 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Full-stop based sentence segmentation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195" y="32852"/>
            <a:ext cx="13125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40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Pending</a:t>
            </a:r>
            <a:r>
              <a:rPr sz="1400" b="1" spc="245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1400" b="1" spc="135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Work</a:t>
            </a:r>
            <a:endParaRPr sz="1400" dirty="0">
              <a:solidFill>
                <a:schemeClr val="accent2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1255" y="88524"/>
            <a:ext cx="15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070707"/>
                </a:solidFill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AABCB-4F73-6D39-D154-40A93F6874B1}"/>
              </a:ext>
            </a:extLst>
          </p:cNvPr>
          <p:cNvSpPr txBox="1"/>
          <p:nvPr/>
        </p:nvSpPr>
        <p:spPr>
          <a:xfrm>
            <a:off x="323850" y="739775"/>
            <a:ext cx="3723971" cy="1584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Emotion Detection </a:t>
            </a: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to be completed within one week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Emotion aware speech tuning </a:t>
            </a: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to be completed within one week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Speech to sign pipeline </a:t>
            </a: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By Feb 23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UI Integration </a:t>
            </a: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By Feb 28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Final Completion(Testing &amp; Refinement) </a:t>
            </a: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By Mar 5</a:t>
            </a:r>
            <a:endParaRPr lang="en-IN" sz="1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6892" y="1321419"/>
            <a:ext cx="146255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9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Thank</a:t>
            </a:r>
            <a:r>
              <a:rPr sz="1400" b="1" spc="229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sz="1400" b="1" spc="155" dirty="0">
                <a:solidFill>
                  <a:srgbClr val="BF003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You</a:t>
            </a:r>
            <a:endParaRPr sz="1400" dirty="0"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3999" y="1737741"/>
            <a:ext cx="3600450" cy="0"/>
          </a:xfrm>
          <a:custGeom>
            <a:avLst/>
            <a:gdLst/>
            <a:ahLst/>
            <a:cxnLst/>
            <a:rect l="l" t="t" r="r" b="b"/>
            <a:pathLst>
              <a:path w="3600450">
                <a:moveTo>
                  <a:pt x="0" y="0"/>
                </a:moveTo>
                <a:lnTo>
                  <a:pt x="3600005" y="0"/>
                </a:lnTo>
              </a:path>
            </a:pathLst>
          </a:custGeom>
          <a:ln w="12649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F003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1094</TotalTime>
  <Words>837</Words>
  <Application>Microsoft Office PowerPoint</Application>
  <PresentationFormat>Custom</PresentationFormat>
  <Paragraphs>214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 Math</vt:lpstr>
      <vt:lpstr>Office Theme</vt:lpstr>
      <vt:lpstr>VoiceBridge: Emotion-Aware Bidirectional Sign Language–Speech System</vt:lpstr>
      <vt:lpstr>Presentation Outline</vt:lpstr>
      <vt:lpstr>PowerPoint Presentation</vt:lpstr>
      <vt:lpstr>Key Points about DHH community in India</vt:lpstr>
      <vt:lpstr>Problem Statement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Current Status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Sequence-Based Prediction of miRNA Associations in CardioVascular Diseases</dc:title>
  <dc:creator>Bhavya Ullas  Under the Supervision of  Prof. Dr. Fousia M Shamsudeen</dc:creator>
  <cp:lastModifiedBy>Bhavya Ullas</cp:lastModifiedBy>
  <cp:revision>27</cp:revision>
  <dcterms:created xsi:type="dcterms:W3CDTF">2025-09-22T09:52:42Z</dcterms:created>
  <dcterms:modified xsi:type="dcterms:W3CDTF">2026-03-11T19:47:01Z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2025-09-22T00:00:00Z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